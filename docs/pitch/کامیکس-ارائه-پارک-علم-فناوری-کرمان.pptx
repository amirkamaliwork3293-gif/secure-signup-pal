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</p:sldIdLst>
  <p:sldSz cx="12191999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pPr rtl="1" algn="r"/>
            <a:r>
              <a:rPr sz="1600" lang="fa-IR">
                <a:latin typeface="Vazirmatn"/>
                <a:rFonts ascii="Vazirmatn" hAnsi="Vazirmatn" cs="Vazirmatn" ea="Vazirmatn"/>
              </a:rPr>
              <a:t>سلام و احترام خدمت هیئت داوری پارک علم و فناوری کرمان. کامیکس حسابداری موبایل است، اما نقطهٔ تمایز ما دفتر دیجیتال نیست؛ ثبت فاکتور با صدا، اسکن بارکد با دوربین گوشی، و دستیار هوشمند فارسی است. در ادامه نشان می‌دهیم این نوآوری امروز در بازار جواب گرفته است.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pPr rtl="1" algn="r"/>
            <a:r>
              <a:rPr sz="1600" lang="fa-IR">
                <a:latin typeface="Vazirmatn"/>
                <a:rFonts ascii="Vazirmatn" hAnsi="Vazirmatn" cs="Vazirmatn" ea="Vazirmatn"/>
              </a:rPr>
              <a:t>جلسه را در پنج بخش کوتاه جلو می‌بریم: مسئله، نوآوری، اثر اقتصادی و اجتماعی، نتایج بازار، و درخواست حمایت.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pPr rtl="1" algn="r"/>
            <a:r>
              <a:rPr sz="1600" lang="fa-IR">
                <a:latin typeface="Vazirmatn"/>
                <a:rFonts ascii="Vazirmatn" hAnsi="Vazirmatn" cs="Vazirmatn" ea="Vazirmatn"/>
              </a:rPr>
              <a:t>مسئله را ملموس بگویید: مغازه‌دار باید بفروشد، نه اینکه پشت کامپیوتر حسابداری یاد بگیرد. دستگاه بارکدخوان برای خیلی‌ها گران است و دفتر کاغذی بدهی را گم می‌کند.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pPr rtl="1" algn="r"/>
            <a:r>
              <a:rPr sz="1600" lang="fa-IR">
                <a:latin typeface="Vazirmatn"/>
                <a:rFonts ascii="Vazirmatn" hAnsi="Vazirmatn" cs="Vazirmatn" ea="Vazirmatn"/>
              </a:rPr>
              <a:t>جملهٔ کلیدی را آرام بگویید: ما حسابداری را از کاغذ و دستگاه به صدا و دوربین موبایل آوردیم. تأکید کنید کامیکس مخصوص واقعیت مغازه ایرانی است؛ نه کپی نرم‌افزار خارجی.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pPr rtl="1" algn="r"/>
            <a:r>
              <a:rPr sz="1600" lang="fa-IR">
                <a:latin typeface="Vazirmatn"/>
                <a:rFonts ascii="Vazirmatn" hAnsi="Vazirmatn" cs="Vazirmatn" ea="Vazirmatn"/>
              </a:rPr>
              <a:t>این اسلاید را نگه دارید. سه پیام باید در ذهن داور بماند: فاکتور با صدا در چند ثانیه؛ اسکنر لازم نیست؛ دستیار هوشمند با یک جمله کار می‌کند. بگویید این‌ها تزئین محصول نیستند؛ ستون محصول‌اند.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pPr rtl="1" algn="r"/>
            <a:r>
              <a:rPr sz="1600" lang="fa-IR">
                <a:latin typeface="Vazirmatn"/>
                <a:rFonts ascii="Vazirmatn" hAnsi="Vazirmatn" cs="Vazirmatn" ea="Vazirmatn"/>
              </a:rPr>
              <a:t>اینجا یک مثال زنده بگویید. اگر اینترنت بود، همان لحظه در اپ نشان دهید. جملهٔ نمونه: دو تا پیراهن دویست و پنجاه هزار تومان. تأکید: چند ثانیه، نه چند دقیقه.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pPr rtl="1" algn="r"/>
            <a:r>
              <a:rPr sz="1600" lang="fa-IR">
                <a:latin typeface="Vazirmatn"/>
                <a:rFonts ascii="Vazirmatn" hAnsi="Vazirmatn" cs="Vazirmatn" ea="Vazirmatn"/>
              </a:rPr>
              <a:t>این اسلاید برای داورانی است که innovativeness می‌خواهند ببینند. بگویید ما سخت‌افزار را حذف کرده‌ایم؛ همان دوربین گوشی کار دستگاه چندمیلیونی را می‌کند. برای پوشاک و سوپر، چاپ بارکد اختصاصی هم هست.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pPr rtl="1" algn="r"/>
            <a:r>
              <a:rPr sz="1600" lang="fa-IR">
                <a:latin typeface="Vazirmatn"/>
                <a:rFonts ascii="Vazirmatn" hAnsi="Vazirmatn" cs="Vazirmatn" ea="Vazirmatn"/>
              </a:rPr>
              <a:t>دو یا سه مثال را با صدای خودتان بگویید تا حس محصول منتقل شود. نکتهٔ فنی را ساده بگویید: درک زبان فارسی روی دستگاه انجام می‌شود و برای دستورهای روزمره به اینترنت وابسته نیست.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pPr rtl="1" algn="r"/>
            <a:r>
              <a:rPr sz="1600" lang="fa-IR">
                <a:latin typeface="Vazirmatn"/>
                <a:rFonts ascii="Vazirmatn" hAnsi="Vazirmatn" cs="Vazirmatn" ea="Vazirmatn"/>
              </a:rPr>
              <a:t>این اسلاید را سریع مرور کنید تا معلوم شود محصول کامل است؛ اما دوباره برگردید روی سه قابلیت اصلی. طلافروشی، کافه، آموزش و تولید را نام ببرید تا وسعت بازار مشخص شود.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pPr rtl="1" algn="r"/>
            <a:r>
              <a:rPr sz="1600" lang="fa-IR">
                <a:latin typeface="Vazirmatn"/>
                <a:rFonts ascii="Vazirmatn" hAnsi="Vazirmatn" cs="Vazirmatn" ea="Vazirmatn"/>
              </a:rPr>
              <a:t>بگویید محصول برای یک صنف خاص ساخته نشده؛ از بوتیک کرمان تا کافه و طلافروشی، هرکدام بدون سخت‌افزار گران وارد حسابداری دیجیتال می‌شوند.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pPr rtl="1" algn="r"/>
            <a:r>
              <a:rPr sz="1600" lang="fa-IR">
                <a:latin typeface="Vazirmatn"/>
                <a:rFonts ascii="Vazirmatn" hAnsi="Vazirmatn" cs="Vazirmatn" ea="Vazirmatn"/>
              </a:rPr>
              <a:t>عدد را اغراق نکنید. بگویید در یک روز شلوغ اگر ۵۰ فاکتور باشد، حتی یک دقیقه صرفه‌جویی در هر فاکتور یعنی نزدیک به یک ساعت وقت آزاد برای فروشنده و انتظار کمتر برای مشتری. هزینهٔ بارکدخوان و صندوق را به‌عنوان سرمایهٔ قفل‌شده مقایسه کنید با اشتراک ماهانه.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pPr rtl="1" algn="r"/>
            <a:r>
              <a:rPr sz="1600" lang="fa-IR">
                <a:latin typeface="Vazirmatn"/>
                <a:rFonts ascii="Vazirmatn" hAnsi="Vazirmatn" cs="Vazirmatn" ea="Vazirmatn"/>
              </a:rPr>
              <a:t>پارک‌های علم و فناوری به اثر اجتماعی حساس‌اند. بگویید کامیکس فقط سود استارتاپ نیست؛ وقت مشتری، شفافیت بدهی در محله، و ورود مغازه‌های کوچک استان به ابزار دیجیتال بدون سرمایهٔ سنگین است.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pPr rtl="1" algn="r"/>
            <a:r>
              <a:rPr sz="1600" lang="fa-IR">
                <a:latin typeface="Vazirmatn"/>
                <a:rFonts ascii="Vazirmatn" hAnsi="Vazirmatn" cs="Vazirmatn" ea="Vazirmatn"/>
              </a:rPr>
              <a:t>این اسلاید اعتماد می‌سازد. با افتخار بگویید محصول زنده است. اغراق نکنید: ۱۲ هزار فالوور، هزار کاربر فعال، و رسیدن به درآمد خوب از اشتراک. اگر پرسیدند جزئیات مالی، بگویید مدل اشتراک است و عدد دقیق را در جلسهٔ محرمانه می‌گویید.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pPr rtl="1" algn="r"/>
            <a:r>
              <a:rPr sz="1600" lang="fa-IR">
                <a:latin typeface="Vazirmatn"/>
                <a:rFonts ascii="Vazirmatn" hAnsi="Vazirmatn" cs="Vazirmatn" ea="Vazirmatn"/>
              </a:rPr>
              <a:t>داور فنی ممکن است بپرسد هوش مصنوعی کجاست. بگویید نوآوری ما مدل زبانی نمایشی نیست؛ درک عملی گفتار فارسی برای کار روزانهٔ مغازه است که امروز کار می‌کند. اسکن دوربین و لایهٔ دستیار، محصول را از نرم‌افزارهای حسابداری کلاسیک جدا می‌کند.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pPr rtl="1" algn="r"/>
            <a:r>
              <a:rPr sz="1600" lang="fa-IR">
                <a:latin typeface="Vazirmatn"/>
                <a:rFonts ascii="Vazirmatn" hAnsi="Vazirmatn" cs="Vazirmatn" ea="Vazirmatn"/>
              </a:rPr>
              <a:t>مدل را ساده بگویید: SaaS اشتراکی. سرمایهٔ مشتری روی گوشی خودش است. ما دستگاه نمی‌فروشیم؛ نرم‌افزار می‌فروشیم. این یعنی حاشیهٔ مقیاس بهتر و وابستگی کمتر به واردات.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pPr rtl="1" algn="r"/>
            <a:r>
              <a:rPr sz="1600" lang="fa-IR">
                <a:latin typeface="Vazirmatn"/>
                <a:rFonts ascii="Vazirmatn" hAnsi="Vazirmatn" cs="Vazirmatn" ea="Vazirmatn"/>
              </a:rPr>
              <a:t>درخواست را متواضع و مشخص بگویید. تأکید: ما محصول و مشتری داریم؛ پارک می‌تواند اعتبار، شبکه و خدمات رشد بدهد تا کامیکس در کرمان و سپس کشور بزرگ شود.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pPr rtl="1" algn="r"/>
            <a:r>
              <a:rPr sz="1600" lang="fa-IR">
                <a:latin typeface="Vazirmatn"/>
                <a:rFonts ascii="Vazirmatn" hAnsi="Vazirmatn" cs="Vazirmatn" ea="Vazirmatn"/>
              </a:rPr>
              <a:t>با دعوت به دمو تمام کنید. اگر ممکن است همان جلسه یک فاکتور صوتی ثبت کنید. سپاس را کوتاه بگویید و برای پرسش باز بمانید.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Relationship Id="rId3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Relationship Id="rId3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Relationship Id="rId3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Relationship Id="rId3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Relationship Id="rId3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Relationship Id="rId3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png"/><Relationship Id="rId3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png"/><Relationship Id="rId3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.png"/><Relationship Id="rId3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.png"/><Relationship Id="rId3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5.png"/><Relationship Id="rId3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6.png"/><Relationship Id="rId3" Type="http://schemas.openxmlformats.org/officeDocument/2006/relationships/notesSlide" Target="../notesSlides/notesSlide16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7.png"/><Relationship Id="rId3" Type="http://schemas.openxmlformats.org/officeDocument/2006/relationships/notesSlide" Target="../notesSlides/notesSlide1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0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0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0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0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0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0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07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0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09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1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1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1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1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1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1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1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17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